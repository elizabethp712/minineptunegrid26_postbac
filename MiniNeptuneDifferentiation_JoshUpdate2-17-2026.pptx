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90" r:id="rId4"/>
    <p:sldId id="298" r:id="rId5"/>
    <p:sldId id="263" r:id="rId6"/>
    <p:sldId id="293" r:id="rId7"/>
    <p:sldId id="294" r:id="rId8"/>
    <p:sldId id="295" r:id="rId9"/>
    <p:sldId id="296" r:id="rId10"/>
    <p:sldId id="297" r:id="rId11"/>
    <p:sldId id="299" r:id="rId12"/>
    <p:sldId id="3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80DE0-7D64-479C-8AC9-64A2FD37819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176E4-BD21-4030-B0B2-81C8FE26B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917C-042D-838C-18F1-28D6BFA8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0D72B-F2EB-25B6-962A-9B5E709FB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B9305-5F6B-3A08-25C4-4B4591368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34815-C862-58FB-4FBF-4A520997A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6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B2D1-CA26-2FCC-90E8-E88F8B03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19392-91C9-6346-7BD4-0FE0D2F12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10307-A176-4E47-16DF-4F1E40D3E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60E83-328E-4E39-A38B-410508EE9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thing at the bottom needs to be its own slide and step through it one-by-one. Circle </a:t>
            </a:r>
            <a:r>
              <a:rPr lang="en-US" err="1"/>
              <a:t>archean</a:t>
            </a:r>
            <a:r>
              <a:rPr lang="en-US"/>
              <a:t> and cross out modern b/c more similarity and focus on more interesting calc and modern earth ones as backup slides. PICASO is missing opacities relative to modern Earth. Just 3 &amp; 4, backup slides. Take all mini-Nep in </a:t>
            </a:r>
            <a:r>
              <a:rPr lang="en-US" err="1"/>
              <a:t>hab</a:t>
            </a:r>
            <a:r>
              <a:rPr lang="en-US"/>
              <a:t> zone and look closest to </a:t>
            </a:r>
            <a:r>
              <a:rPr lang="en-US" err="1"/>
              <a:t>archean</a:t>
            </a:r>
            <a:r>
              <a:rPr lang="en-US"/>
              <a:t> earth, similar at longer wavelengths b/c similar methane and </a:t>
            </a:r>
            <a:r>
              <a:rPr lang="en-US" err="1"/>
              <a:t>archean</a:t>
            </a:r>
            <a:r>
              <a:rPr lang="en-US"/>
              <a:t> has </a:t>
            </a:r>
            <a:r>
              <a:rPr lang="en-US" err="1"/>
              <a:t>reileigh</a:t>
            </a:r>
            <a:r>
              <a:rPr lang="en-US"/>
              <a:t> scattering and hydrogen looks much brighter. But with LUVOIR not a whole spectrum at once, we have one photometric bin. Compare point to spectra in a range. Phase 1 of LUVOIR will we be tricked? Single data point that detects planet vs. single point detects water. </a:t>
            </a:r>
          </a:p>
          <a:p>
            <a:endParaRPr lang="en-US"/>
          </a:p>
          <a:p>
            <a:r>
              <a:rPr lang="en-US"/>
              <a:t>Modern vs. Archean (most similar between modern &amp; </a:t>
            </a:r>
            <a:r>
              <a:rPr lang="en-US" err="1"/>
              <a:t>archean</a:t>
            </a:r>
            <a:r>
              <a:rPr lang="en-US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68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658CB-10C1-EA0E-E30D-4EDFB2FA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04CD1-7AC9-71A8-70F3-B7506618C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7AA52-9AB2-DCBE-B4D4-2D2AD63AB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2F32-D9C8-7A14-5FF8-971543D6C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6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5B35-5D03-5228-10D3-71E1F210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68E63-0791-F4E2-1DA1-030C6D180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3AA41-3821-2A9D-FE06-5683925BA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B509-0550-D1C9-3BE0-2B3AFE842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5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3D34-4956-81CE-A8CA-5CC55767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05709-11E1-3FA3-1C06-CF344BF3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6ABE7-ED3E-E48B-1ECA-8338E507F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4B771-E59B-A8A0-8198-886174D62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09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1F7A-CB4D-817A-6C3D-71D403CC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52F58-C7E3-BB40-C8E3-130C6C969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D5763-C5E1-8D63-FF51-7435F1CD9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3A32D-C76A-33AA-0FB3-58B886F3F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71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A930-F98B-C310-7BB9-3B18CDC4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FAD52-E392-EFD7-3C62-6F41719C6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ECDA0-F4A5-9D19-96CB-074659EC7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9AC0C-9F7E-25B8-20FD-A09D05A9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5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188D-337C-038F-56F0-4FAEA2B1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993E8-8249-3123-24E0-C9E4701EB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3B8AE-E220-5A52-F13C-5A70533DA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F1024-6A4A-77BB-D0D1-A501D3168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96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114A-BC84-E9F1-9DA7-309833FF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FA120-CBF5-7A31-F18C-F54244D93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D3CA9-28FC-54FC-5465-B12823DEC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Could mention some specific examples of constant/dependent variables (also all orbit the Sun, not K &amp; F stars), also we only include a single water cloud roughly parameterized. Important information make it the whole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752DB-155E-CBFE-0150-47CBAF809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E5F84-2B0D-0043-A2F1-95BA10551D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5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34B2-1831-133A-DB6E-365E8AB0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BF1EF-DC18-B942-85D6-D6350F54E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759E3-BC62-D099-EE74-4C8BDEF0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8DED4-0D1E-A1C9-A88C-706A9F17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1DDF8-03C9-45A6-F1F4-FAACC6AF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0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4B15-EEFF-93E5-700F-7B791B8F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CBF9E-807A-FA0B-7034-465CF059D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B1092-E59C-12F0-2ED2-E68ADC5E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EC6E2-575A-807B-799B-008BE2D0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6F698-CB6F-3988-05EA-27997C30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1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EA04-CBA8-E0BD-5FBB-77553FD7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BC05D-DEB1-D468-1883-B7905760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513C-141C-DA8E-D577-6AE0966D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44DE-25A2-463E-F674-A4DDA1FD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29FDC-F737-260D-070F-F57D9747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1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02A3-CC2A-A17A-CF67-AB9658DD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7DA4-8E05-5A48-1693-28EDC02AF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D42D9-52BC-582C-72B7-7F3BB11D8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EA031-EA1B-FB39-D573-71C84D5D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4FA09-64B1-395A-245D-6A605FEF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7B446-D407-48A5-18EF-29B694FB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9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330E-A549-179F-705B-BF45EF27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A624F-F0F6-B6E4-56CD-CF74A45E5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BBD59-412C-24C0-1007-BCA3E96EE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3F120-CCFB-267B-C8E6-1020878AE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23D6CE-66C7-9D6C-AF60-19F3EE63C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415E9-8D87-8F5B-7A68-6B40ACD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C0CF8-B988-BB1D-A88B-FB780BB4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AEC7D-8DA1-0611-ECAD-2E8E285A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03D7-6469-619A-78E9-5E27831A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743D8-9BAC-E882-CBC9-D2AAA569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33AD4-02E0-E270-5338-49218A64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39DB9-000C-7D7E-FB7D-EEBAC235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2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A6449A-486C-59D1-39BC-480F4BA2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555E4-4D00-1931-F95D-3545CC25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1B84D-27BF-0AD8-077C-E1A0D275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8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3598-AFC4-864C-665E-A8C2C3D3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5DF10-F281-E305-DB83-F81CFAC9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E80E3-0375-6C2B-091F-CBCCB8C36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A783-A030-DE43-D905-526139F3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24F7F-5EF1-B256-F249-B3E91E11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0FF0-2F68-D559-80D9-AB5EC34B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4B92-A5BF-AE94-E8B3-C38DF3C9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A1E6A-1FEF-B6A0-8EB5-14876C09A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09874-51C3-EFD8-6A4E-E1B51ED25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6299-94EC-39B9-DE60-F2681205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3D8F3-1FBA-3CD4-8AAD-3B29B8FD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3EF84-FB72-2B74-2FE3-9D92A8AE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7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F97B-5017-6E61-7E37-E924F9C9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6E701-64F5-36B8-8C23-E3AF466C6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9A19-2629-96BE-4C3B-4264CC65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35485-0411-B963-C182-48A49B1B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D41D-28FD-A56F-FB15-7F5AB466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6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1506F-88DE-DAE4-88A7-A5324C60C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EB9BF-ED3A-5885-7C9B-383484BCA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F4FDB-2557-D925-0405-5F70BD56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198EC-2FB5-8ACC-6F49-BF2DD976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A12DC-3A6E-74D7-6BF3-38EFC7AE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6E5A0-D980-0211-10C7-A3F3834F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0A72-A189-1C4D-2F4B-1EECB5918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0410-041B-1D12-4526-C480C5BE3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F02F0-60FF-486D-BA50-E731F63375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48C83-F059-B4F8-584B-3AE9EF3B1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50591-EF2F-B7AD-64EE-AC723900F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7BF2E-1CFE-496B-BD13-80A68B4A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9BB74-1E27-7072-39CF-33CEFE762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2383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By Elizabeth </a:t>
            </a:r>
            <a:r>
              <a:rPr lang="en-US" dirty="0" err="1">
                <a:solidFill>
                  <a:schemeClr val="bg1"/>
                </a:solidFill>
              </a:rPr>
              <a:t>Pawelka</a:t>
            </a:r>
            <a:r>
              <a:rPr lang="en-US" dirty="0">
                <a:solidFill>
                  <a:schemeClr val="bg1"/>
                </a:solidFill>
              </a:rPr>
              <a:t>, Updated 2/17/2026</a:t>
            </a:r>
          </a:p>
        </p:txBody>
      </p:sp>
      <p:pic>
        <p:nvPicPr>
          <p:cNvPr id="4" name="Picture 2" descr="A galaxy in space&#10;&#10;AI-generated content may be incorrect.">
            <a:extLst>
              <a:ext uri="{FF2B5EF4-FFF2-40B4-BE49-F238E27FC236}">
                <a16:creationId xmlns:a16="http://schemas.microsoft.com/office/drawing/2014/main" id="{6E6C75DF-2B2E-C736-1F4B-E3806AB98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9" r="-1" b="-1"/>
          <a:stretch>
            <a:fillRect/>
          </a:stretch>
        </p:blipFill>
        <p:spPr bwMode="auto">
          <a:xfrm>
            <a:off x="3070" y="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21C76A-959E-6645-B326-4D06CCEE5361}"/>
              </a:ext>
            </a:extLst>
          </p:cNvPr>
          <p:cNvSpPr txBox="1">
            <a:spLocks/>
          </p:cNvSpPr>
          <p:nvPr/>
        </p:nvSpPr>
        <p:spPr>
          <a:xfrm>
            <a:off x="1834672" y="911745"/>
            <a:ext cx="9144000" cy="3898794"/>
          </a:xfrm>
          <a:prstGeom prst="rect">
            <a:avLst/>
          </a:prstGeom>
          <a:solidFill>
            <a:srgbClr val="002060"/>
          </a:solidFill>
          <a:ln w="76200"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r>
              <a:rPr lang="en-US" sz="6700" dirty="0">
                <a:solidFill>
                  <a:schemeClr val="bg1"/>
                </a:solidFill>
              </a:rPr>
              <a:t>A Grid of Mini-Neptune Atmospheres for HWO Target Discrimination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700" dirty="0">
                <a:solidFill>
                  <a:schemeClr val="bg1"/>
                </a:solidFill>
              </a:rPr>
              <a:t>By Elizabeth </a:t>
            </a:r>
            <a:r>
              <a:rPr lang="en-US" sz="2700" dirty="0" err="1">
                <a:solidFill>
                  <a:schemeClr val="bg1"/>
                </a:solidFill>
              </a:rPr>
              <a:t>Pawelka</a:t>
            </a:r>
            <a:r>
              <a:rPr lang="en-US" sz="2700" dirty="0">
                <a:solidFill>
                  <a:schemeClr val="bg1"/>
                </a:solidFill>
              </a:rPr>
              <a:t>, Updated 2/17/2026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26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71EA-C4BB-48C5-3704-91812885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6851"/>
          </a:xfrm>
        </p:spPr>
        <p:txBody>
          <a:bodyPr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FF054-9C18-B073-30D8-C1F2BBEA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6852"/>
            <a:ext cx="12192000" cy="916844"/>
          </a:xfrm>
          <a:solidFill>
            <a:schemeClr val="tx2">
              <a:lumMod val="10000"/>
              <a:lumOff val="9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Challenge: 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initial detection phase of HWO, even with current radial velocity/astrometry techniques, mass and radius will not be constrained, which means a high albedo terrestrial planet of interest might look like a low albedo mini-Neptune (that is not of interest when considering habitability). </a:t>
            </a:r>
            <a:endParaRPr lang="en-US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62EDC-CC32-689C-8136-FB0BD0F6A553}"/>
              </a:ext>
            </a:extLst>
          </p:cNvPr>
          <p:cNvSpPr txBox="1"/>
          <p:nvPr/>
        </p:nvSpPr>
        <p:spPr>
          <a:xfrm>
            <a:off x="0" y="2165772"/>
            <a:ext cx="12192000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 + Extra Challenge: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look at multiple (instead of just one) photometric observations across wavelength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bandpasses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but we need to know which ones make it easiest to distinguish most mini-Neptunes from terrestrial planets (Alei et. al. 2025).</a:t>
            </a:r>
            <a:endParaRPr lang="en-US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B98C1-EA22-1BAF-61FC-39B230FFD809}"/>
              </a:ext>
            </a:extLst>
          </p:cNvPr>
          <p:cNvSpPr txBox="1"/>
          <p:nvPr/>
        </p:nvSpPr>
        <p:spPr>
          <a:xfrm>
            <a:off x="0" y="3322129"/>
            <a:ext cx="12192000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Project: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Aims to create a grid of mini-Neptunes that range over radius, metallicity, tint, semi-major axis, ℅ ratio, and the eddy diffusion coefficient around a sun-like star for a more comprehensive exploration of parameter space and optimization of picking which multi-photometric observations would best differentiate most mini-Neptunes from terrestrial atmospheres. </a:t>
            </a:r>
            <a:endParaRPr lang="en-US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AA7EB-9E98-C99C-0E54-D5934CD4074D}"/>
              </a:ext>
            </a:extLst>
          </p:cNvPr>
          <p:cNvSpPr txBox="1"/>
          <p:nvPr/>
        </p:nvSpPr>
        <p:spPr>
          <a:xfrm>
            <a:off x="0" y="4755485"/>
            <a:ext cx="12192000" cy="20313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Methodology/Results: </a:t>
            </a:r>
            <a:endParaRPr lang="en-US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PT &amp; Photochemistry grids that  utilize the open-source climate model for gas giants from PICASO that assumes chemical equilibrium (balances radiative and convective energy), along with the photochemical model from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photochem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which accounts for chemical reactions and mass conservation to determine the composition of the atmosphere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Optimize a match in atmospheric abundances between O2-rich and H-rich mini-Neptunes and an Archean/Modern Earth, and comparing their reflected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spectras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2E456D-D6CE-C423-26AB-14C8F274F25A}"/>
              </a:ext>
            </a:extLst>
          </p:cNvPr>
          <p:cNvSpPr txBox="1">
            <a:spLocks/>
          </p:cNvSpPr>
          <p:nvPr/>
        </p:nvSpPr>
        <p:spPr>
          <a:xfrm>
            <a:off x="0" y="-32832"/>
            <a:ext cx="12192000" cy="1052070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Quick Project Overview:</a:t>
            </a:r>
          </a:p>
        </p:txBody>
      </p:sp>
    </p:spTree>
    <p:extLst>
      <p:ext uri="{BB962C8B-B14F-4D97-AF65-F5344CB8AC3E}">
        <p14:creationId xmlns:p14="http://schemas.microsoft.com/office/powerpoint/2010/main" val="179017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24D3-31C2-93C3-E7EE-04555E1A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E517-3F68-6493-3C50-FEC210D3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Assumptions: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5">
                <a:extLst>
                  <a:ext uri="{FF2B5EF4-FFF2-40B4-BE49-F238E27FC236}">
                    <a16:creationId xmlns:a16="http://schemas.microsoft.com/office/drawing/2014/main" id="{9FAD413F-78AE-5287-5C9D-D4D47F759F8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24333436"/>
                  </p:ext>
                </p:extLst>
              </p:nvPr>
            </p:nvGraphicFramePr>
            <p:xfrm>
              <a:off x="82826" y="1052070"/>
              <a:ext cx="12026348" cy="57502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6348">
                      <a:extLst>
                        <a:ext uri="{9D8B030D-6E8A-4147-A177-3AD203B41FA5}">
                          <a16:colId xmlns:a16="http://schemas.microsoft.com/office/drawing/2014/main" val="1662555350"/>
                        </a:ext>
                      </a:extLst>
                    </a:gridCol>
                  </a:tblGrid>
                  <a:tr h="528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500" dirty="0"/>
                            <a:t>Altered Variables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360416"/>
                      </a:ext>
                    </a:extLst>
                  </a:tr>
                  <a:tr h="5221617">
                    <a:tc>
                      <a:txBody>
                        <a:bodyPr/>
                        <a:lstStyle/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Planet Radius: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1.6 – 4.0 x Earth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Planet Metallicity: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– 1000 x Solar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Internal Temperature (Tint):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100 - 400 K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Semi-Major Axis: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– 10 AU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C/O Ratio: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0.01  - 1 x Solar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Eddy Diffusion Coefficient (</a:t>
                          </a:r>
                          <a:r>
                            <a:rPr lang="en-US" sz="2000" b="1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Kzz</a:t>
                          </a:r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2494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5">
                <a:extLst>
                  <a:ext uri="{FF2B5EF4-FFF2-40B4-BE49-F238E27FC236}">
                    <a16:creationId xmlns:a16="http://schemas.microsoft.com/office/drawing/2014/main" id="{9FAD413F-78AE-5287-5C9D-D4D47F759F8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24333436"/>
                  </p:ext>
                </p:extLst>
              </p:nvPr>
            </p:nvGraphicFramePr>
            <p:xfrm>
              <a:off x="82826" y="1052070"/>
              <a:ext cx="12026348" cy="57502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6348">
                      <a:extLst>
                        <a:ext uri="{9D8B030D-6E8A-4147-A177-3AD203B41FA5}">
                          <a16:colId xmlns:a16="http://schemas.microsoft.com/office/drawing/2014/main" val="1662555350"/>
                        </a:ext>
                      </a:extLst>
                    </a:gridCol>
                  </a:tblGrid>
                  <a:tr h="528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500" dirty="0"/>
                            <a:t>Altered Variables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360416"/>
                      </a:ext>
                    </a:extLst>
                  </a:tr>
                  <a:tr h="52216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" t="-10968" r="-203" b="-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2494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142476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DB31-8348-19B3-AD78-664250CD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64B8-208C-D80C-76B7-70D1121B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Assumptions: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0570596E-2518-8032-5724-3F8F4D4A405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5137969"/>
                  </p:ext>
                </p:extLst>
              </p:nvPr>
            </p:nvGraphicFramePr>
            <p:xfrm>
              <a:off x="82826" y="1052071"/>
              <a:ext cx="12026348" cy="5931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53338">
                      <a:extLst>
                        <a:ext uri="{9D8B030D-6E8A-4147-A177-3AD203B41FA5}">
                          <a16:colId xmlns:a16="http://schemas.microsoft.com/office/drawing/2014/main" val="1662555350"/>
                        </a:ext>
                      </a:extLst>
                    </a:gridCol>
                    <a:gridCol w="7673010">
                      <a:extLst>
                        <a:ext uri="{9D8B030D-6E8A-4147-A177-3AD203B41FA5}">
                          <a16:colId xmlns:a16="http://schemas.microsoft.com/office/drawing/2014/main" val="1834269121"/>
                        </a:ext>
                      </a:extLst>
                    </a:gridCol>
                  </a:tblGrid>
                  <a:tr h="4683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500" dirty="0"/>
                            <a:t>Altered Variables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Constant/Dependent Variables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360416"/>
                      </a:ext>
                    </a:extLst>
                  </a:tr>
                  <a:tr h="5337556">
                    <a:tc>
                      <a:txBody>
                        <a:bodyPr/>
                        <a:lstStyle/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Planet Radius: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1.6 – 4.0 x Earth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Planet Metallicity: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– 1000 x Solar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Internal Temperature (Tint): 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100 - 400 K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Semi-Major Axis: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0.3 – 10 AU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C/O Ratio:</a:t>
                          </a:r>
                        </a:p>
                        <a:p>
                          <a:pPr lvl="0" algn="ctr" fontAlgn="base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0.01  - 1 x Solar</a:t>
                          </a:r>
                        </a:p>
                        <a:p>
                          <a:pPr lvl="0" algn="ctr" fontAlgn="base"/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lvl="0" algn="ctr" fontAlgn="base"/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Eddy Diffusion Coefficient (</a:t>
                          </a:r>
                          <a:r>
                            <a:rPr lang="en-US" sz="2000" b="1" kern="1200" dirty="0" err="1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Kzz</a:t>
                          </a:r>
                          <a:r>
                            <a:rPr lang="en-US" sz="2000" b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2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Planet is </a:t>
                          </a:r>
                          <a:r>
                            <a:rPr lang="en-US" sz="12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Similar to K218b </a:t>
                          </a: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in: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Earth Mass (M) dependent on the Chen &amp; Kipping (2017) piecewise power-law (Forecaster) relation.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Gravity based on G*M / R^2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Equilibrium Temperature (</a:t>
                          </a:r>
                          <a:r>
                            <a:rPr lang="en-US" sz="12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Teq</a:t>
                          </a: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 calculated from Semi major axis</a:t>
                          </a:r>
                        </a:p>
                        <a:p>
                          <a:pPr marL="0" lvl="0" indent="0" fontAlgn="base">
                            <a:buFont typeface="Arial" panose="020B0604020202020204" pitchFamily="34" charset="0"/>
                            <a:buNone/>
                          </a:pPr>
                          <a:endParaRPr lang="en-US" sz="12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lvl="0" indent="0" fontAlgn="base">
                            <a:buFont typeface="Arial" panose="020B0604020202020204" pitchFamily="34" charset="0"/>
                            <a:buNone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Star is </a:t>
                          </a:r>
                          <a:r>
                            <a:rPr lang="en-US" sz="12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Similar to Sun </a:t>
                          </a: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in: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1x Solar Radius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5778K Effective Temperature (Teff)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1x Solar Metallicity </a:t>
                          </a: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4.4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PICASO → opacities is decoupled from equilibrium chemistry, instead calculating based on opacity of the molecule, increased to match molecular abundance, then determine how light interacts with said abundance. </a:t>
                          </a:r>
                        </a:p>
                        <a:p>
                          <a:endParaRPr lang="en-US" sz="1200" b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Clouds?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Earth-like gray cloud (thickness based on Earth pressure difference of 0.1 bars, w0 (single scattering albedo) = .99, g0 (asymmetry factor) = .85, </a:t>
                          </a:r>
                          <a:r>
                            <a:rPr lang="en-US" sz="12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opd</a:t>
                          </a: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(total extinction of each layer) =10), for everything with significant H2O condensation.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Resolution is 150 interpolated points in the result for the wavelength, albedo, and </a:t>
                          </a:r>
                          <a:r>
                            <a:rPr lang="en-US" sz="12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fpfs</a:t>
                          </a: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(flux ratio of planet/star)</a:t>
                          </a:r>
                        </a:p>
                        <a:p>
                          <a:endParaRPr lang="en-US" sz="12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Composition?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Planet Atoms Limit: H, He, N, O, C (no S)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Solar Zenith Angle: 60 degrees 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Sun Abundances: {'H' : 9.21e-01, 'N' : 6.23e-05, 'O' : 4.51e-04, 'C' : 2.48e-04, 'S' : 1.21e-05, 'He' : 7.84e-02}</a:t>
                          </a:r>
                        </a:p>
                        <a:p>
                          <a:pPr marL="285750" lvl="0" indent="-285750" fontAlgn="base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Spans wavelength range of 0.1 - 2.5 micrometers</a:t>
                          </a:r>
                        </a:p>
                        <a:p>
                          <a:pPr fontAlgn="base"/>
                          <a:r>
                            <a:rPr lang="en-US" sz="1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 </a:t>
                          </a: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endParaRPr 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2494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0570596E-2518-8032-5724-3F8F4D4A405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5137969"/>
                  </p:ext>
                </p:extLst>
              </p:nvPr>
            </p:nvGraphicFramePr>
            <p:xfrm>
              <a:off x="82826" y="1052071"/>
              <a:ext cx="12026348" cy="5931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53338">
                      <a:extLst>
                        <a:ext uri="{9D8B030D-6E8A-4147-A177-3AD203B41FA5}">
                          <a16:colId xmlns:a16="http://schemas.microsoft.com/office/drawing/2014/main" val="1662555350"/>
                        </a:ext>
                      </a:extLst>
                    </a:gridCol>
                    <a:gridCol w="7673010">
                      <a:extLst>
                        <a:ext uri="{9D8B030D-6E8A-4147-A177-3AD203B41FA5}">
                          <a16:colId xmlns:a16="http://schemas.microsoft.com/office/drawing/2014/main" val="1834269121"/>
                        </a:ext>
                      </a:extLst>
                    </a:gridCol>
                  </a:tblGrid>
                  <a:tr h="472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500" dirty="0"/>
                            <a:t>Altered Variables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Constant/Dependent Variables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360416"/>
                      </a:ext>
                    </a:extLst>
                  </a:tr>
                  <a:tr h="54594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" t="-9487" r="-176643" b="-2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71" t="-9487" r="-318" b="-2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2494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5405834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6B7F-34C0-840F-AB9B-3F362811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3070-9944-C487-6214-63135E46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Assumptions: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6524963E-351B-E4E2-926F-947C9080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096268"/>
              </p:ext>
            </p:extLst>
          </p:nvPr>
        </p:nvGraphicFramePr>
        <p:xfrm>
          <a:off x="185527" y="1052070"/>
          <a:ext cx="11797663" cy="5724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4952">
                  <a:extLst>
                    <a:ext uri="{9D8B030D-6E8A-4147-A177-3AD203B41FA5}">
                      <a16:colId xmlns:a16="http://schemas.microsoft.com/office/drawing/2014/main" val="1662555350"/>
                    </a:ext>
                  </a:extLst>
                </a:gridCol>
                <a:gridCol w="3062711">
                  <a:extLst>
                    <a:ext uri="{9D8B030D-6E8A-4147-A177-3AD203B41FA5}">
                      <a16:colId xmlns:a16="http://schemas.microsoft.com/office/drawing/2014/main" val="1834269121"/>
                    </a:ext>
                  </a:extLst>
                </a:gridCol>
              </a:tblGrid>
              <a:tr h="777894">
                <a:tc>
                  <a:txBody>
                    <a:bodyPr/>
                    <a:lstStyle/>
                    <a:p>
                      <a:r>
                        <a:rPr lang="en-US" sz="3000" dirty="0"/>
                        <a:t>Altered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Constant/Dependent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360416"/>
                  </a:ext>
                </a:extLst>
              </a:tr>
              <a:tr h="4946920">
                <a:tc>
                  <a:txBody>
                    <a:bodyPr/>
                    <a:lstStyle/>
                    <a:p>
                      <a:endParaRPr lang="en-US" sz="2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Modern Composition:</a:t>
                      </a:r>
                    </a:p>
                    <a:p>
                      <a:pPr lvl="0" fontAlgn="base"/>
                      <a:r>
                        <a:rPr 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 (0.79), O2 (0.21), O3 (7e-7), H2O (3e-3), CO2 (300e-6), CH4 (1.7e-6)</a:t>
                      </a:r>
                    </a:p>
                    <a:p>
                      <a:pPr lvl="0" fontAlgn="base"/>
                      <a:endParaRPr lang="en-US" sz="2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5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Archean Composition:</a:t>
                      </a:r>
                    </a:p>
                    <a:p>
                      <a:pPr lvl="0" fontAlgn="base"/>
                      <a:r>
                        <a:rPr 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 (0.945), CO2 (0.05), CO (0.0005), CH4 (0.005), H2O (0.003)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Earth: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 angle of 0- 170 degrees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Earth radius &amp; mass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Sun parameters used in grids</a:t>
                      </a:r>
                    </a:p>
                    <a:p>
                      <a:pPr marL="285750" lvl="0" indent="-28575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Includes a grey Earth cloud (from 0.6 to 0.7 pressure, same w0, g0,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opd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the one used in Mini Neptunes grid)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494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63144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951B-BEA7-612D-AD6E-0F2CEC87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8497-F594-F98E-2326-D13DE59C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Classic H-dominated Sub-Neptune Structure for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K2-18b-like Planet: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C857CC-80A0-1BD6-8ACE-E5801033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034" y="1152939"/>
            <a:ext cx="3959087" cy="54598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Input Parameters:</a:t>
            </a:r>
            <a:endParaRPr lang="en-US" dirty="0">
              <a:effectLst/>
            </a:endParaRPr>
          </a:p>
          <a:p>
            <a:r>
              <a:rPr lang="en-US" dirty="0"/>
              <a:t>planet radius: 2.61x Earth </a:t>
            </a:r>
            <a:endParaRPr lang="en-US" dirty="0">
              <a:effectLst/>
            </a:endParaRPr>
          </a:p>
          <a:p>
            <a:r>
              <a:rPr lang="en-US" dirty="0"/>
              <a:t>metallicity: ~3.16x solar</a:t>
            </a:r>
            <a:endParaRPr lang="en-US" dirty="0">
              <a:effectLst/>
            </a:endParaRPr>
          </a:p>
          <a:p>
            <a:r>
              <a:rPr lang="en-US" dirty="0"/>
              <a:t>tint: 155K</a:t>
            </a:r>
            <a:endParaRPr lang="en-US" dirty="0">
              <a:effectLst/>
            </a:endParaRPr>
          </a:p>
          <a:p>
            <a:r>
              <a:rPr lang="en-US" dirty="0"/>
              <a:t>semi major in AU: 1.04 AU</a:t>
            </a:r>
            <a:endParaRPr lang="en-US" dirty="0">
              <a:effectLst/>
            </a:endParaRPr>
          </a:p>
          <a:p>
            <a:r>
              <a:rPr lang="en-US" dirty="0" err="1"/>
              <a:t>ctoO_solar</a:t>
            </a:r>
            <a:r>
              <a:rPr lang="en-US" dirty="0"/>
              <a:t>: 1x solar c/o ratio</a:t>
            </a:r>
            <a:endParaRPr lang="en-US" dirty="0">
              <a:effectLst/>
            </a:endParaRPr>
          </a:p>
          <a:p>
            <a:r>
              <a:rPr lang="en-US" dirty="0" err="1"/>
              <a:t>Kzz</a:t>
            </a:r>
            <a:r>
              <a:rPr lang="en-US" dirty="0"/>
              <a:t> = 5 (10^5 cm^2/s)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Classic H-dominated mini-</a:t>
            </a:r>
            <a:r>
              <a:rPr lang="en-US" dirty="0" err="1"/>
              <a:t>neptunes</a:t>
            </a:r>
            <a:r>
              <a:rPr lang="en-US" dirty="0"/>
              <a:t> are Hydrogen dominated and can still have water condensation along with methane and nitrogen. 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**Note: composition was limited to the molecules in the legend for each photochemistry-PT plot; atmosphere depicts most abundant molecules in this atmosphere.</a:t>
            </a:r>
            <a:endParaRPr lang="en-US" sz="1900" dirty="0">
              <a:effectLst/>
            </a:endParaRP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EB034E-9D53-9987-D328-93BB15B2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0" y="105207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C2B8BF-063E-6C3C-C805-0982C12C9455}"/>
              </a:ext>
            </a:extLst>
          </p:cNvPr>
          <p:cNvSpPr/>
          <p:nvPr/>
        </p:nvSpPr>
        <p:spPr>
          <a:xfrm>
            <a:off x="1009934" y="3998794"/>
            <a:ext cx="4981433" cy="354842"/>
          </a:xfrm>
          <a:prstGeom prst="rect">
            <a:avLst/>
          </a:prstGeom>
          <a:solidFill>
            <a:schemeClr val="bg2">
              <a:lumMod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6C771-56A6-DF6A-B630-7D0962376D01}"/>
              </a:ext>
            </a:extLst>
          </p:cNvPr>
          <p:cNvSpPr txBox="1"/>
          <p:nvPr/>
        </p:nvSpPr>
        <p:spPr>
          <a:xfrm>
            <a:off x="3500650" y="3984304"/>
            <a:ext cx="237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Grey Earth H2O Cloud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809AE9-D9B6-00AA-D942-73D6E8501750}"/>
              </a:ext>
            </a:extLst>
          </p:cNvPr>
          <p:cNvSpPr/>
          <p:nvPr/>
        </p:nvSpPr>
        <p:spPr>
          <a:xfrm>
            <a:off x="4900201" y="3021980"/>
            <a:ext cx="978408" cy="211428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AE96FFC-D889-B62F-D698-B5E974AAE76A}"/>
              </a:ext>
            </a:extLst>
          </p:cNvPr>
          <p:cNvSpPr/>
          <p:nvPr/>
        </p:nvSpPr>
        <p:spPr>
          <a:xfrm rot="6917776">
            <a:off x="1960897" y="2534514"/>
            <a:ext cx="978408" cy="21142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7E181E4-A632-EF62-79A7-0AF187305A6E}"/>
              </a:ext>
            </a:extLst>
          </p:cNvPr>
          <p:cNvSpPr/>
          <p:nvPr/>
        </p:nvSpPr>
        <p:spPr>
          <a:xfrm rot="6917776">
            <a:off x="3061152" y="3760456"/>
            <a:ext cx="978408" cy="21142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1B36D8-114B-DFE1-164A-327ABF7D5132}"/>
              </a:ext>
            </a:extLst>
          </p:cNvPr>
          <p:cNvSpPr/>
          <p:nvPr/>
        </p:nvSpPr>
        <p:spPr>
          <a:xfrm rot="6917776">
            <a:off x="2974220" y="2692682"/>
            <a:ext cx="978408" cy="211428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BD872-724F-CDB8-DE31-B338A93D261F}"/>
              </a:ext>
            </a:extLst>
          </p:cNvPr>
          <p:cNvSpPr txBox="1"/>
          <p:nvPr/>
        </p:nvSpPr>
        <p:spPr>
          <a:xfrm>
            <a:off x="3681991" y="3506353"/>
            <a:ext cx="2229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Water Condensation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AF4C9-DF18-658C-0040-394A1B735C34}"/>
              </a:ext>
            </a:extLst>
          </p:cNvPr>
          <p:cNvSpPr txBox="1"/>
          <p:nvPr/>
        </p:nvSpPr>
        <p:spPr>
          <a:xfrm>
            <a:off x="4689629" y="2701471"/>
            <a:ext cx="113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Hydrogen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85D7C-2E9C-01C4-04DB-A7329F8EA139}"/>
              </a:ext>
            </a:extLst>
          </p:cNvPr>
          <p:cNvSpPr txBox="1"/>
          <p:nvPr/>
        </p:nvSpPr>
        <p:spPr>
          <a:xfrm>
            <a:off x="3655682" y="2468240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Methane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A1A65-1296-78B5-69F0-E1006D50B025}"/>
              </a:ext>
            </a:extLst>
          </p:cNvPr>
          <p:cNvSpPr txBox="1"/>
          <p:nvPr/>
        </p:nvSpPr>
        <p:spPr>
          <a:xfrm>
            <a:off x="1495091" y="207412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Nitrogen</a:t>
            </a:r>
          </a:p>
        </p:txBody>
      </p:sp>
    </p:spTree>
    <p:extLst>
      <p:ext uri="{BB962C8B-B14F-4D97-AF65-F5344CB8AC3E}">
        <p14:creationId xmlns:p14="http://schemas.microsoft.com/office/powerpoint/2010/main" val="17721540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9BFC-C509-8003-FE75-11792FCC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4EEE-1331-88B6-82E7-68148662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Classic H-dominated Sub-Neptune Structure for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K2-18b-like Planet: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10E54C8-CBF4-2848-8F76-86C54F786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7196"/>
            <a:ext cx="12192000" cy="4263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1C9A91-A366-5E91-64D1-DDC94D249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13617"/>
            <a:ext cx="12192000" cy="4292617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F390F22-1DF9-E50A-9515-E160C05C07D6}"/>
              </a:ext>
            </a:extLst>
          </p:cNvPr>
          <p:cNvSpPr txBox="1">
            <a:spLocks/>
          </p:cNvSpPr>
          <p:nvPr/>
        </p:nvSpPr>
        <p:spPr>
          <a:xfrm>
            <a:off x="9537622" y="3006186"/>
            <a:ext cx="2516846" cy="30887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 dirty="0"/>
              <a:t>Input Parameters:</a:t>
            </a:r>
          </a:p>
          <a:p>
            <a:r>
              <a:rPr lang="en-US" sz="1900" dirty="0"/>
              <a:t>planet radius: 2.61x Earth </a:t>
            </a:r>
          </a:p>
          <a:p>
            <a:r>
              <a:rPr lang="en-US" sz="1900" dirty="0"/>
              <a:t>metallicity: ~3.16x Solar</a:t>
            </a:r>
          </a:p>
          <a:p>
            <a:r>
              <a:rPr lang="en-US" sz="1900" dirty="0"/>
              <a:t>tint: 155K</a:t>
            </a:r>
          </a:p>
          <a:p>
            <a:r>
              <a:rPr lang="en-US" sz="1900" dirty="0"/>
              <a:t>semi major in AU: 1.04 AU</a:t>
            </a:r>
          </a:p>
          <a:p>
            <a:r>
              <a:rPr lang="en-US" sz="1900" dirty="0" err="1"/>
              <a:t>ctoO_solar</a:t>
            </a:r>
            <a:r>
              <a:rPr lang="en-US" sz="1900" dirty="0"/>
              <a:t>: 1x solar c/o </a:t>
            </a:r>
          </a:p>
          <a:p>
            <a:r>
              <a:rPr lang="en-US" sz="1900" dirty="0" err="1"/>
              <a:t>Kzz</a:t>
            </a:r>
            <a:r>
              <a:rPr lang="en-US" sz="1900" dirty="0"/>
              <a:t> = 5 (10^5 cm^2/s)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5555A-9E1C-C03C-CCBD-D455DB154075}"/>
              </a:ext>
            </a:extLst>
          </p:cNvPr>
          <p:cNvSpPr txBox="1"/>
          <p:nvPr/>
        </p:nvSpPr>
        <p:spPr>
          <a:xfrm>
            <a:off x="89209" y="6483728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**Note: Reflected Spectra for all cases shown had to limit PT profile to everything above temperature = 1000K due to restrictions on model for O3.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99D996-1A48-7823-A6EA-4E65ECFC1AB8}"/>
              </a:ext>
            </a:extLst>
          </p:cNvPr>
          <p:cNvSpPr txBox="1"/>
          <p:nvPr/>
        </p:nvSpPr>
        <p:spPr>
          <a:xfrm>
            <a:off x="137532" y="5676926"/>
            <a:ext cx="11916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reflected spectra you can see absorption features mainly of methane and water, and notice that the classical </a:t>
            </a:r>
          </a:p>
          <a:p>
            <a:r>
              <a:rPr lang="en-US" dirty="0"/>
              <a:t>example of a phase 0 degree mini-Neptune noticeably differs from Modern/Archean Earth at ~20 degrees.</a:t>
            </a:r>
          </a:p>
        </p:txBody>
      </p:sp>
    </p:spTree>
    <p:extLst>
      <p:ext uri="{BB962C8B-B14F-4D97-AF65-F5344CB8AC3E}">
        <p14:creationId xmlns:p14="http://schemas.microsoft.com/office/powerpoint/2010/main" val="293254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32A6-3592-6AD3-A023-A1FEA2EB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1203-78B3-FFB6-2094-D97D1C1A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O2 Rich Sub-Neptune Structure for K2-18b-like Planet: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4D0B87-9D9F-C96F-DE73-91894390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034" y="1152939"/>
            <a:ext cx="3959087" cy="545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Input Parameters:</a:t>
            </a:r>
            <a:endParaRPr lang="en-US" sz="1800" dirty="0">
              <a:effectLst/>
            </a:endParaRPr>
          </a:p>
          <a:p>
            <a:r>
              <a:rPr lang="en-US" sz="1800" dirty="0"/>
              <a:t>planet radius: 2.61x Earth </a:t>
            </a:r>
            <a:endParaRPr lang="en-US" sz="1800" dirty="0">
              <a:effectLst/>
            </a:endParaRPr>
          </a:p>
          <a:p>
            <a:r>
              <a:rPr lang="en-US" sz="1800" b="1" dirty="0"/>
              <a:t>metallicity:  3162x solar</a:t>
            </a:r>
            <a:endParaRPr lang="en-US" sz="1800" dirty="0">
              <a:effectLst/>
            </a:endParaRPr>
          </a:p>
          <a:p>
            <a:r>
              <a:rPr lang="en-US" sz="1800" dirty="0"/>
              <a:t>tint: 155K</a:t>
            </a:r>
            <a:endParaRPr lang="en-US" sz="1800" dirty="0">
              <a:effectLst/>
            </a:endParaRPr>
          </a:p>
          <a:p>
            <a:r>
              <a:rPr lang="en-US" sz="1800" dirty="0"/>
              <a:t>semi major in AU: 1 AU</a:t>
            </a:r>
            <a:endParaRPr lang="en-US" sz="1800" dirty="0">
              <a:effectLst/>
            </a:endParaRPr>
          </a:p>
          <a:p>
            <a:r>
              <a:rPr lang="en-US" sz="1800" b="1" dirty="0" err="1"/>
              <a:t>ctoO_solar</a:t>
            </a:r>
            <a:r>
              <a:rPr lang="en-US" sz="1800" b="1" dirty="0"/>
              <a:t>: 0.01x solar c/o ratio</a:t>
            </a:r>
            <a:endParaRPr lang="en-US" sz="1800" dirty="0">
              <a:effectLst/>
            </a:endParaRPr>
          </a:p>
          <a:p>
            <a:r>
              <a:rPr lang="en-US" sz="1800" dirty="0" err="1"/>
              <a:t>Kzz</a:t>
            </a:r>
            <a:r>
              <a:rPr lang="en-US" sz="1800" dirty="0"/>
              <a:t> = 5 (10^5 cm^2/s)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FFF8B-9C05-3165-4412-52C2D1654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7" y="1152939"/>
            <a:ext cx="7707377" cy="56536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FC57F4-CA1F-FD28-C7B1-D1BAF3156448}"/>
              </a:ext>
            </a:extLst>
          </p:cNvPr>
          <p:cNvSpPr/>
          <p:nvPr/>
        </p:nvSpPr>
        <p:spPr>
          <a:xfrm>
            <a:off x="1114567" y="4288725"/>
            <a:ext cx="5107813" cy="383636"/>
          </a:xfrm>
          <a:prstGeom prst="rect">
            <a:avLst/>
          </a:prstGeom>
          <a:solidFill>
            <a:schemeClr val="bg2">
              <a:lumMod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203FE-56F0-E1CE-2D71-5FEC9E5A8EA4}"/>
              </a:ext>
            </a:extLst>
          </p:cNvPr>
          <p:cNvSpPr txBox="1"/>
          <p:nvPr/>
        </p:nvSpPr>
        <p:spPr>
          <a:xfrm>
            <a:off x="1372905" y="4011283"/>
            <a:ext cx="251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Grey Earth (H2O) Cloud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F54E3-1F96-BAB6-498E-E910D34D9BD1}"/>
              </a:ext>
            </a:extLst>
          </p:cNvPr>
          <p:cNvSpPr txBox="1"/>
          <p:nvPr/>
        </p:nvSpPr>
        <p:spPr>
          <a:xfrm>
            <a:off x="5243974" y="2626731"/>
            <a:ext cx="17618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Oxygen</a:t>
            </a:r>
          </a:p>
          <a:p>
            <a:r>
              <a:rPr lang="en-US" dirty="0"/>
              <a:t>1&amp;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87030-AA94-2A2A-683E-E9CFD91205B5}"/>
              </a:ext>
            </a:extLst>
          </p:cNvPr>
          <p:cNvSpPr txBox="1"/>
          <p:nvPr/>
        </p:nvSpPr>
        <p:spPr>
          <a:xfrm>
            <a:off x="4180339" y="2875002"/>
            <a:ext cx="176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N2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81A1A-DBBA-DCCA-FD11-8153D7FBD726}"/>
              </a:ext>
            </a:extLst>
          </p:cNvPr>
          <p:cNvSpPr txBox="1"/>
          <p:nvPr/>
        </p:nvSpPr>
        <p:spPr>
          <a:xfrm>
            <a:off x="2509025" y="3244334"/>
            <a:ext cx="176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Carbon Dioxide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8FF13-C89D-C70B-7912-06245723467F}"/>
              </a:ext>
            </a:extLst>
          </p:cNvPr>
          <p:cNvSpPr txBox="1"/>
          <p:nvPr/>
        </p:nvSpPr>
        <p:spPr>
          <a:xfrm>
            <a:off x="4520466" y="4773230"/>
            <a:ext cx="1761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Condensation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346445C-71D0-C046-A5A2-E16372477860}"/>
              </a:ext>
            </a:extLst>
          </p:cNvPr>
          <p:cNvSpPr/>
          <p:nvPr/>
        </p:nvSpPr>
        <p:spPr>
          <a:xfrm rot="18522708">
            <a:off x="5235518" y="4829024"/>
            <a:ext cx="331788" cy="1693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3C8368D-B747-3DB3-F359-244501C067EB}"/>
              </a:ext>
            </a:extLst>
          </p:cNvPr>
          <p:cNvSpPr/>
          <p:nvPr/>
        </p:nvSpPr>
        <p:spPr>
          <a:xfrm>
            <a:off x="3590693" y="3098717"/>
            <a:ext cx="589646" cy="17434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8F68D2-69E9-7A92-0F5D-CD190925B82E}"/>
              </a:ext>
            </a:extLst>
          </p:cNvPr>
          <p:cNvSpPr/>
          <p:nvPr/>
        </p:nvSpPr>
        <p:spPr>
          <a:xfrm>
            <a:off x="4493941" y="2737120"/>
            <a:ext cx="603146" cy="13788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B1E604B-6D39-3113-0A66-994BBD6ACCC1}"/>
              </a:ext>
            </a:extLst>
          </p:cNvPr>
          <p:cNvSpPr/>
          <p:nvPr/>
        </p:nvSpPr>
        <p:spPr>
          <a:xfrm>
            <a:off x="5363736" y="2465107"/>
            <a:ext cx="614295" cy="17479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54091BC-9243-36BB-9300-6B5A81D5EBEC}"/>
              </a:ext>
            </a:extLst>
          </p:cNvPr>
          <p:cNvSpPr/>
          <p:nvPr/>
        </p:nvSpPr>
        <p:spPr>
          <a:xfrm rot="10800000">
            <a:off x="3590692" y="2465457"/>
            <a:ext cx="1717582" cy="158809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E1ECC3-BD78-7D4A-ED7A-C08204C080CC}"/>
              </a:ext>
            </a:extLst>
          </p:cNvPr>
          <p:cNvSpPr txBox="1"/>
          <p:nvPr/>
        </p:nvSpPr>
        <p:spPr>
          <a:xfrm>
            <a:off x="7771095" y="3849900"/>
            <a:ext cx="41512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This higher metallicity and c/o ratio mini-Neptune is oxygen dominated, along with nitrogen, carbon dioxide, and water features. </a:t>
            </a:r>
          </a:p>
        </p:txBody>
      </p:sp>
    </p:spTree>
    <p:extLst>
      <p:ext uri="{BB962C8B-B14F-4D97-AF65-F5344CB8AC3E}">
        <p14:creationId xmlns:p14="http://schemas.microsoft.com/office/powerpoint/2010/main" val="25135372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BCC9-37E4-BFE2-0DF7-0399B56F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AEE4-5675-9BE9-8ACB-64E7FE427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O2 Rich Sub-Neptune Structure for K2-18b-like Planet: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1D70E62-20DF-CAFD-E35F-9AFBD080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8796"/>
            <a:ext cx="12192000" cy="42343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EC4FA9-C62D-8641-0784-08F088EBB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1026"/>
            <a:ext cx="12192000" cy="4195948"/>
          </a:xfrm>
          <a:prstGeom prst="rect">
            <a:avLst/>
          </a:prstGeom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0939F68E-D090-FFCC-2C4C-90E6EB0E2B09}"/>
              </a:ext>
            </a:extLst>
          </p:cNvPr>
          <p:cNvSpPr txBox="1">
            <a:spLocks/>
          </p:cNvSpPr>
          <p:nvPr/>
        </p:nvSpPr>
        <p:spPr>
          <a:xfrm>
            <a:off x="9311268" y="3445969"/>
            <a:ext cx="2743200" cy="26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Input Parameters:</a:t>
            </a:r>
          </a:p>
          <a:p>
            <a:r>
              <a:rPr lang="en-US" dirty="0"/>
              <a:t>planet radius: 2.61x Earth </a:t>
            </a:r>
          </a:p>
          <a:p>
            <a:r>
              <a:rPr lang="en-US" b="1" dirty="0"/>
              <a:t>metallicity:  3162x solar</a:t>
            </a:r>
            <a:endParaRPr lang="en-US" dirty="0"/>
          </a:p>
          <a:p>
            <a:r>
              <a:rPr lang="en-US" dirty="0"/>
              <a:t>tint: 155K</a:t>
            </a:r>
          </a:p>
          <a:p>
            <a:r>
              <a:rPr lang="en-US" dirty="0"/>
              <a:t>semi major in AU: 1 AU</a:t>
            </a:r>
          </a:p>
          <a:p>
            <a:r>
              <a:rPr lang="en-US" b="1" dirty="0" err="1"/>
              <a:t>ctoO_solar</a:t>
            </a:r>
            <a:r>
              <a:rPr lang="en-US" b="1" dirty="0"/>
              <a:t>: 0.01x solar c/o </a:t>
            </a:r>
            <a:endParaRPr lang="en-US" dirty="0"/>
          </a:p>
          <a:p>
            <a:r>
              <a:rPr lang="en-US" dirty="0" err="1"/>
              <a:t>Kzz</a:t>
            </a:r>
            <a:r>
              <a:rPr lang="en-US" dirty="0"/>
              <a:t> = 5 (10^5 cm^2/s)</a:t>
            </a:r>
            <a:br>
              <a:rPr lang="en-US" dirty="0"/>
            </a:b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C82CC-955A-BB03-ECE3-C0DC67CFFDF8}"/>
              </a:ext>
            </a:extLst>
          </p:cNvPr>
          <p:cNvSpPr txBox="1"/>
          <p:nvPr/>
        </p:nvSpPr>
        <p:spPr>
          <a:xfrm>
            <a:off x="137532" y="5676926"/>
            <a:ext cx="11916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reflected spectra you can see absorption features mainly of water, oxygen, and carbon dioxide, but the phase 0 degrees mini-Neptune looks fairly similar between ~0.6 – 2.5 microns with Modern Earth at ~30 degrees.</a:t>
            </a:r>
          </a:p>
        </p:txBody>
      </p:sp>
    </p:spTree>
    <p:extLst>
      <p:ext uri="{BB962C8B-B14F-4D97-AF65-F5344CB8AC3E}">
        <p14:creationId xmlns:p14="http://schemas.microsoft.com/office/powerpoint/2010/main" val="265504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1B00-A9E9-0172-92AC-3B5964A8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0209-9496-8134-288E-607EECFE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References: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B75A-AB77-9D36-C58C-F1C245E30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86499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Eleonora Alei </a:t>
            </a:r>
            <a:r>
              <a:rPr lang="en-US" i="1" dirty="0"/>
              <a:t>et al.</a:t>
            </a:r>
            <a:r>
              <a:rPr lang="en-US" dirty="0"/>
              <a:t> 2025. Multi-bandpass Photometry for Exoplanet Atmosphere Reconnaissance (MPEAR) with the Habitable Worlds Observatory (HWO) -- I. Differentiating Earth from Neptunes During Discovery. 10.48550/arXiv.2512.05279. </a:t>
            </a:r>
          </a:p>
        </p:txBody>
      </p:sp>
    </p:spTree>
    <p:extLst>
      <p:ext uri="{BB962C8B-B14F-4D97-AF65-F5344CB8AC3E}">
        <p14:creationId xmlns:p14="http://schemas.microsoft.com/office/powerpoint/2010/main" val="6426867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3706-A1E9-0BBC-2195-881F6441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67FA-9FBD-F04B-23DA-BD592EC1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Another O2 Rich Sub-Neptune Structure for K2-18b-like Planet: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BD296-4648-C79B-EA41-F217D1EAF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034" y="1152939"/>
            <a:ext cx="3959087" cy="545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Input Parameters:</a:t>
            </a:r>
            <a:endParaRPr lang="en-US" sz="1800" dirty="0">
              <a:effectLst/>
            </a:endParaRPr>
          </a:p>
          <a:p>
            <a:r>
              <a:rPr lang="en-US" sz="1800" dirty="0"/>
              <a:t>planet radius: 2.61x Earth </a:t>
            </a:r>
            <a:endParaRPr lang="en-US" sz="1800" dirty="0">
              <a:effectLst/>
            </a:endParaRPr>
          </a:p>
          <a:p>
            <a:r>
              <a:rPr lang="en-US" sz="1800" b="1" dirty="0"/>
              <a:t>metallicity: 1000x solar</a:t>
            </a:r>
          </a:p>
          <a:p>
            <a:r>
              <a:rPr lang="en-US" sz="1800" dirty="0"/>
              <a:t>tint: 155K</a:t>
            </a:r>
            <a:endParaRPr lang="en-US" sz="1800" dirty="0">
              <a:effectLst/>
            </a:endParaRPr>
          </a:p>
          <a:p>
            <a:r>
              <a:rPr lang="en-US" sz="1800" dirty="0"/>
              <a:t>semi major in AU: 1 AU</a:t>
            </a:r>
            <a:endParaRPr lang="en-US" sz="1800" dirty="0">
              <a:effectLst/>
            </a:endParaRPr>
          </a:p>
          <a:p>
            <a:r>
              <a:rPr lang="en-US" sz="1800" b="1" dirty="0" err="1"/>
              <a:t>ctoO_solar</a:t>
            </a:r>
            <a:r>
              <a:rPr lang="en-US" sz="1800" b="1" dirty="0"/>
              <a:t>: 0.01x solar c/o </a:t>
            </a:r>
            <a:endParaRPr lang="en-US" sz="1800" dirty="0">
              <a:effectLst/>
            </a:endParaRPr>
          </a:p>
          <a:p>
            <a:r>
              <a:rPr lang="en-US" sz="1800" dirty="0" err="1"/>
              <a:t>Kzz</a:t>
            </a:r>
            <a:r>
              <a:rPr lang="en-US" sz="1800" dirty="0"/>
              <a:t> = 5 (10^5 cm^2/s)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F3402B-AD53-272C-0C0E-76D54EF13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6" y="1152939"/>
            <a:ext cx="7477211" cy="53716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401561-DBB2-017E-29C1-69FBA416D6D9}"/>
              </a:ext>
            </a:extLst>
          </p:cNvPr>
          <p:cNvSpPr/>
          <p:nvPr/>
        </p:nvSpPr>
        <p:spPr>
          <a:xfrm>
            <a:off x="1114567" y="4348975"/>
            <a:ext cx="4884789" cy="345687"/>
          </a:xfrm>
          <a:prstGeom prst="rect">
            <a:avLst/>
          </a:prstGeom>
          <a:solidFill>
            <a:schemeClr val="bg2">
              <a:lumMod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F8E96-8701-E96A-5C6B-103A26371145}"/>
              </a:ext>
            </a:extLst>
          </p:cNvPr>
          <p:cNvSpPr txBox="1"/>
          <p:nvPr/>
        </p:nvSpPr>
        <p:spPr>
          <a:xfrm>
            <a:off x="1479525" y="3979642"/>
            <a:ext cx="251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Grey Earth (H2O) 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46F49-2FF5-012E-3A23-EB203F690E9A}"/>
              </a:ext>
            </a:extLst>
          </p:cNvPr>
          <p:cNvSpPr txBox="1"/>
          <p:nvPr/>
        </p:nvSpPr>
        <p:spPr>
          <a:xfrm>
            <a:off x="6096000" y="5055646"/>
            <a:ext cx="163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Condensation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A6C4C-B2BC-F48B-941A-ECCFDB11C44A}"/>
              </a:ext>
            </a:extLst>
          </p:cNvPr>
          <p:cNvSpPr txBox="1"/>
          <p:nvPr/>
        </p:nvSpPr>
        <p:spPr>
          <a:xfrm>
            <a:off x="5014499" y="2145259"/>
            <a:ext cx="1037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Oxygen</a:t>
            </a:r>
          </a:p>
          <a:p>
            <a:pPr algn="ctr"/>
            <a:r>
              <a:rPr lang="en-US" dirty="0"/>
              <a:t>1&amp;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F6FFB-D157-5D84-1571-623C61831001}"/>
              </a:ext>
            </a:extLst>
          </p:cNvPr>
          <p:cNvSpPr txBox="1"/>
          <p:nvPr/>
        </p:nvSpPr>
        <p:spPr>
          <a:xfrm>
            <a:off x="4175833" y="3019207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Nitrogen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B18A4B-ABB1-040D-4744-14E65A8C543E}"/>
              </a:ext>
            </a:extLst>
          </p:cNvPr>
          <p:cNvSpPr txBox="1"/>
          <p:nvPr/>
        </p:nvSpPr>
        <p:spPr>
          <a:xfrm>
            <a:off x="2539849" y="3302637"/>
            <a:ext cx="171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Carbon Dioxide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FA316F2-90EC-AE56-CB13-EB0E26105537}"/>
              </a:ext>
            </a:extLst>
          </p:cNvPr>
          <p:cNvSpPr/>
          <p:nvPr/>
        </p:nvSpPr>
        <p:spPr>
          <a:xfrm rot="7017149">
            <a:off x="5631636" y="2675965"/>
            <a:ext cx="288274" cy="24791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B451B48-B5F9-F637-4340-A8B33F07143C}"/>
              </a:ext>
            </a:extLst>
          </p:cNvPr>
          <p:cNvSpPr/>
          <p:nvPr/>
        </p:nvSpPr>
        <p:spPr>
          <a:xfrm rot="10800000">
            <a:off x="4925022" y="2367341"/>
            <a:ext cx="288274" cy="247916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4B71DEA-265A-4DD3-A197-3C3D80A7C4CE}"/>
              </a:ext>
            </a:extLst>
          </p:cNvPr>
          <p:cNvSpPr/>
          <p:nvPr/>
        </p:nvSpPr>
        <p:spPr>
          <a:xfrm>
            <a:off x="4870362" y="3309249"/>
            <a:ext cx="288274" cy="24791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E5978D7-27B0-E460-32A7-3D049EB40780}"/>
              </a:ext>
            </a:extLst>
          </p:cNvPr>
          <p:cNvSpPr/>
          <p:nvPr/>
        </p:nvSpPr>
        <p:spPr>
          <a:xfrm>
            <a:off x="3957447" y="3572254"/>
            <a:ext cx="288274" cy="2479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B5C19B8-2E79-C919-BB49-5DF077F06D05}"/>
              </a:ext>
            </a:extLst>
          </p:cNvPr>
          <p:cNvSpPr/>
          <p:nvPr/>
        </p:nvSpPr>
        <p:spPr>
          <a:xfrm rot="13279286">
            <a:off x="5853517" y="5061963"/>
            <a:ext cx="291679" cy="148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1CAA14-8684-2281-65DB-CA4A862300B4}"/>
              </a:ext>
            </a:extLst>
          </p:cNvPr>
          <p:cNvSpPr txBox="1"/>
          <p:nvPr/>
        </p:nvSpPr>
        <p:spPr>
          <a:xfrm>
            <a:off x="7735940" y="3804882"/>
            <a:ext cx="41512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This higher metallicity and c/o ratio mini-Neptune is oxygen dominated, along with nitrogen, carbon dioxide, and water features. There is also a little bit of carbon monoxide before UV photolysis in the upper atmosphere. </a:t>
            </a:r>
          </a:p>
        </p:txBody>
      </p:sp>
    </p:spTree>
    <p:extLst>
      <p:ext uri="{BB962C8B-B14F-4D97-AF65-F5344CB8AC3E}">
        <p14:creationId xmlns:p14="http://schemas.microsoft.com/office/powerpoint/2010/main" val="401777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/>
      <p:bldP spid="16" grpId="0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FC01-9F8C-E6DB-8AE8-F939C46F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B5CC-AD3C-029C-A0DB-AD5BF579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070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Another O2 Rich Sub-Neptune Structure for K2-18b-like Planet: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4DBB0E-D883-1C69-7927-D296BB7A0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908"/>
            <a:ext cx="12192000" cy="4239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8BA5BE-A764-A617-6B92-35F9DAFC2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4678"/>
            <a:ext cx="12192000" cy="4205936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7B6243A-EB2D-E476-F663-74D281CC5A5C}"/>
              </a:ext>
            </a:extLst>
          </p:cNvPr>
          <p:cNvSpPr txBox="1">
            <a:spLocks/>
          </p:cNvSpPr>
          <p:nvPr/>
        </p:nvSpPr>
        <p:spPr>
          <a:xfrm>
            <a:off x="9623097" y="3277645"/>
            <a:ext cx="2568903" cy="260999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Input Parameters:</a:t>
            </a:r>
          </a:p>
          <a:p>
            <a:r>
              <a:rPr lang="en-US" dirty="0"/>
              <a:t>planet radius: 2.61x Earth </a:t>
            </a:r>
          </a:p>
          <a:p>
            <a:r>
              <a:rPr lang="en-US" b="1" dirty="0"/>
              <a:t>metallicity: 1000x solar</a:t>
            </a:r>
            <a:endParaRPr lang="en-US" dirty="0"/>
          </a:p>
          <a:p>
            <a:r>
              <a:rPr lang="en-US" dirty="0"/>
              <a:t>tint: 155K</a:t>
            </a:r>
          </a:p>
          <a:p>
            <a:r>
              <a:rPr lang="en-US" dirty="0"/>
              <a:t>semi major in AU: 1 AU</a:t>
            </a:r>
          </a:p>
          <a:p>
            <a:r>
              <a:rPr lang="en-US" b="1" dirty="0" err="1"/>
              <a:t>ctoO_solar</a:t>
            </a:r>
            <a:r>
              <a:rPr lang="en-US" b="1" dirty="0"/>
              <a:t>: 0.01x solar c/o </a:t>
            </a:r>
            <a:endParaRPr lang="en-US" dirty="0"/>
          </a:p>
          <a:p>
            <a:r>
              <a:rPr lang="en-US" dirty="0" err="1"/>
              <a:t>Kzz</a:t>
            </a:r>
            <a:r>
              <a:rPr lang="en-US" dirty="0"/>
              <a:t> = 5 (10^5 cm^2/s)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8A542-D94D-AD40-113A-CF7FDDA3EBFD}"/>
              </a:ext>
            </a:extLst>
          </p:cNvPr>
          <p:cNvSpPr txBox="1"/>
          <p:nvPr/>
        </p:nvSpPr>
        <p:spPr>
          <a:xfrm>
            <a:off x="137532" y="5503221"/>
            <a:ext cx="11916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reflected spectra you can see absorption features mainly of water, oxygen, and carbon dioxide, but the phase 0 degrees mini-Neptune has some features similar to both Archean and Modern Earth at ~40 degrees, particularly at longer wavelengths.</a:t>
            </a:r>
          </a:p>
        </p:txBody>
      </p:sp>
    </p:spTree>
    <p:extLst>
      <p:ext uri="{BB962C8B-B14F-4D97-AF65-F5344CB8AC3E}">
        <p14:creationId xmlns:p14="http://schemas.microsoft.com/office/powerpoint/2010/main" val="280926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3462</TotalTime>
  <Words>1923</Words>
  <Application>Microsoft Office PowerPoint</Application>
  <PresentationFormat>Widescreen</PresentationFormat>
  <Paragraphs>188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Assumptions:</vt:lpstr>
      <vt:lpstr>Assumptions:</vt:lpstr>
      <vt:lpstr>Assumptions:</vt:lpstr>
      <vt:lpstr>Classic H-dominated Sub-Neptune Structure for  K2-18b-like Planet:</vt:lpstr>
      <vt:lpstr>Classic H-dominated Sub-Neptune Structure for  K2-18b-like Planet:</vt:lpstr>
      <vt:lpstr>O2 Rich Sub-Neptune Structure for K2-18b-like Planet:</vt:lpstr>
      <vt:lpstr>O2 Rich Sub-Neptune Structure for K2-18b-like Planet:</vt:lpstr>
      <vt:lpstr>References:</vt:lpstr>
      <vt:lpstr>Another O2 Rich Sub-Neptune Structure for K2-18b-like Planet:</vt:lpstr>
      <vt:lpstr>Another O2 Rich Sub-Neptune Structure for K2-18b-like Planet: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Pawelka</dc:creator>
  <cp:lastModifiedBy>Elizabeth Pawelka</cp:lastModifiedBy>
  <cp:revision>13</cp:revision>
  <dcterms:created xsi:type="dcterms:W3CDTF">2026-02-16T20:18:38Z</dcterms:created>
  <dcterms:modified xsi:type="dcterms:W3CDTF">2026-02-27T01:41:43Z</dcterms:modified>
</cp:coreProperties>
</file>